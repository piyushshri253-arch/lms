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0152" cy="5029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pic>
        <p:nvPicPr>
          <p:cNvPr id="4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371600"/>
            <a:ext cx="256032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4688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MORENA TEACH LMS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46304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Enterprise Architecture, Workflow &amp; Security Documentation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304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dedicated, single-business Learning Management System built with Next.js 14, TypeScript, Prisma, and Tailwind CSS. Features strict dual-portal security, 4-tier RBAC, instructor course publishing pipeline, and public storefront.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5120640"/>
            <a:ext cx="2103120" cy="41148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5120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Single-Business Architecture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49040" y="5120640"/>
            <a:ext cx="2103120" cy="411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5120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Strict Dual Portal Security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5120640"/>
            <a:ext cx="2103120" cy="411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5120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4-Tier RBAC Governance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21040" y="5120640"/>
            <a:ext cx="2103120" cy="411480"/>
          </a:xfrm>
          <a:prstGeom prst="rect">
            <a:avLst/>
          </a:prstGeom>
          <a:solidFill>
            <a:srgbClr val="0F172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5120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Real Data Storefront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SYSTEM FOUNDATION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Single-Business Architecture &amp; Core Principles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for proprietary company education with zero multi-tenant complexity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338328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NO MULTI-TENANCY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2514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Single Business LMS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32004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Built specifically for your own business brand. No external facility management, no multi-tenant isolation overhead, and no confusing company switcher.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920240"/>
            <a:ext cx="33832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ONE STOREFRONT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63440" y="2514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Single Unified Website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63440" y="32004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existing landing page (/) is the unified storefront. All approved courses automatically showcase here with real INR prices, badges, and instant checkout.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1920240"/>
            <a:ext cx="3383280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ZERO PRIVILEGE CROSSOVER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21040" y="2514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Strict Portal Partitioning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21040" y="32004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Students interact solely via the public website (/login). Administrators operate exclusively inside the secured management cockpit (/admin/login).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SECURITY PROTOCOL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Dual-Portal Architecture &amp; Boundary Enforcement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physical &amp; programmatic separation between Public and Admin portals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PUBLIC STOREFRONT &amp; STUDENT PORTAL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Entry Points: /login and /register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Registration: Strictly hardcoded to role STUDENT.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3520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Staff Block: Admins &amp; Super Admins attempting login here are rejected with HTTP 403 Forbidden.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Auto Redirect: Prompts staff to use /admin/login.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4892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Capabilities: Browse catalog, buy courses via Razorpay, watch lessons, track progress &amp; download certificates.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92024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ADMINISTRATIVE COMMAND CENTER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Entry Point: /admin/login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Allowed Roles: SUPER_ADMIN and ADMIN only.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3520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Student Block: Students attempting login here are rejected with HTTP 403 Forbidden.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Security Shield: Secret access URL with zero public discoverability.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4892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Capabilities: Approve instructor courses, manage staff permissions, view revenue metrics, issue announcements.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Role Matrix &amp; Platform Permissions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role segmentation ensuring complete operational integrity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725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5720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Role Tier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Primary URL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Key Responsibilities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Privilege Scope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3F5E"/>
                          </a:solidFill>
                        </a:rPr>
                        <a:t>SUPER ADMIN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/admin/*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Platform owner; invites &amp; governs Admins; full platform oversight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Unrestricted master access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/admin/*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Course review &amp; approval; student enrollments; announcements; reports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High (cannot delete platform owner)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</a:rPr>
                        <a:t>INSTRUCTOR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/instructor/*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Creates courses, builds curriculum, uploads videos/PDFs, submits for approval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</a:rPr>
                        <a:t>Scoped to owned courses only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STUDENT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/ (Storefront) &amp; /dashboard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</a:rPr>
                        <a:t>Browse courses, purchase, stream video lessons, take quizzes, get certificates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Consumer access only</a:t>
                      </a:r>
                      <a:endParaRPr lang="en-US" sz="1200" dirty="0"/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PUBLISHING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Course Publishing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instructor draft to live storefront showcase on the main landing page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2011680"/>
            <a:ext cx="19659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Course Draft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3108960"/>
            <a:ext cx="16916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356616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Sets title, description, price (₹), category, level, and thumbnail.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011680"/>
            <a:ext cx="19659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3240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</a:rPr>
              <a:t>02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063240" y="2697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Curriculum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063240" y="3108960"/>
            <a:ext cx="16916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6324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63240" y="356616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Adds modules, video lessons, attachments (PDFs), and quizzes.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0640" y="2011680"/>
            <a:ext cx="19659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257800" y="2697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257800" y="3108960"/>
            <a:ext cx="16916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780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Instructor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57800" y="356616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Submits course for admin verification (Status: IN_REVIEW).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315200" y="2011680"/>
            <a:ext cx="19659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2360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F5E"/>
                </a:solidFill>
              </a:rPr>
              <a:t>04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7452360" y="2697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Admin Review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452360" y="3108960"/>
            <a:ext cx="16916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5236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Admin / SuperAdmin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52360" y="356616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Quality audit in /admin/courses. Approves or requests changes.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09760" y="2011680"/>
            <a:ext cx="196596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46920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05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9646920" y="26974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Instant Live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646920" y="3108960"/>
            <a:ext cx="16916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4692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System Automation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646920" y="356616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Instantly displayed on / landing page with real-time badges.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PUBLIC STOREFRONT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&amp; Student Learning Experience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storefront connected directly to real database with zero fake demo records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56692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9144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011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Real Database Courses Only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 mocked or placeholder data. Every course rendered on the homepage comes directly from approved instructor/admin listings.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2971800"/>
            <a:ext cx="56692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971800"/>
            <a:ext cx="9144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063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Live Timestamp &amp; Date Badges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3337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Each course displays creation/update timestamp with formatted date/time for complete transparency.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4023360"/>
            <a:ext cx="56692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402336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INR Currency &amp; Seamless Checkout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4389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Clean ₹ pricing, curriculum previews, and streamlined enrollment workflow for registered students.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5074920"/>
            <a:ext cx="56692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5074920"/>
            <a:ext cx="9144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5166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Interactive Learning Cockpit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5440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Video streaming, progress persistence, lesson completion triggers, and automated verified certificate generation.</a:t>
            </a:r>
            <a:endParaRPr lang="en-US" sz="1050" dirty="0"/>
          </a:p>
        </p:txBody>
      </p:sp>
      <p:pic>
        <p:nvPicPr>
          <p:cNvPr id="23" name="Image 1" descr="C:/Users/MORENA/.gemini/antigravity/brain/dc111be8-da77-4e88-91c5-e8162d62a3dd/.user_uploaded/media_17893840911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20240"/>
            <a:ext cx="4754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INSTRUCTOR STUDIO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Studio &amp; Course Management (/instructor)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authoring suite for teachers to build, organize, and monitor courses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338328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Course Studio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Create title, slug &amp; description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Upload high-res thumbnail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Configure pricing in INR (₹)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Assign category &amp; difficulty level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1920240"/>
            <a:ext cx="338328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Curriculum Builder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6344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Organize modules in sequence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Add video lessons (Vimeo/S3)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Attach downloadable PDF resources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Create interactive quiz evaluations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1920240"/>
            <a:ext cx="33832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83210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Earnings &amp; Reviews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2104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Track student enrollment count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32104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Review student completion metrics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2104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Monitor revenue share &amp; payouts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21040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 Respond to student course reviews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ADMIN COCKPIT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Command Center &amp; Governance (/admin)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staff privilege management, and course approval workflow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pic>
        <p:nvPicPr>
          <p:cNvPr id="7" name="Image 1" descr="C:/Users/MORENA/.gemini/antigravity/brain/dc111be8-da77-4e88-91c5-e8162d62a3dd/.user_uploaded/media_17894721766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5303520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920240"/>
            <a:ext cx="51206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920240"/>
            <a:ext cx="9144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Zero Demo Data / Real Live Database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KPI tiles (Students, Courses, Revenue, Enrollments) calculate dynamic aggregates from the active PostgreSQL database.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09360" y="2971800"/>
            <a:ext cx="51206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971800"/>
            <a:ext cx="91440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0" y="3063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Role Presets in /admin/admins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3680" y="3337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Super Admin can invite staff with curated presets: Operations Admin, Content Moderator, or Financial Auditor.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4023360"/>
            <a:ext cx="51206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402336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Quality Review &amp; Course Approval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83680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Audit submitted instructor courses before they appear live on the landing page storefront.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9360" y="5074920"/>
            <a:ext cx="51206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5074920"/>
            <a:ext cx="91440" cy="9144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0" y="5166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Manual Enrollment &amp; Certificate Verification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583680" y="5440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Support team can manually enroll students, manage certificate templates, and broadcast platform announcements.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&amp; 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high-performance, and scalable Next.js 14 stack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3383280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FRONTEND LAYER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Next.js 14 (App Router) + Tailwind CSS + Lucide Icons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Server &amp; Client Components, responsive design, fast SSR/SSG rendering, zero layout shifts.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920240"/>
            <a:ext cx="338328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BACKEND &amp; APIS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Next.js Route Handlers + NextAuth.js JWT Sessions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RESTful API endpoints, strict role validation, bcrypt password hashing, and cookie guards.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1920240"/>
            <a:ext cx="338328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83210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DATA &amp; STORAGE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210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Prisma ORM + PostgreSQL / SQLite + AWS S3 / Cloudinary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210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Type-safe queries, relational integrity, file uploads for course videos, PDFs &amp; thumbnails.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VERIFICATION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Results &amp; Deployment Readiness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validated security and operational readiness</a:t>
            </a:r>
            <a:endParaRPr lang="en-US" sz="1300" dirty="0"/>
          </a:p>
        </p:txBody>
      </p:sp>
      <p:pic>
        <p:nvPicPr>
          <p:cNvPr id="6" name="Image 0" descr="C:/Users/MORENA/.gemini/antigravity/scratch/morena-teach-lms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14630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92024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SECURITY &amp; HEALTH VERIFICATION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Public Login Guard: Verified that Admin credentials submitted at /login are rejected with HTTP 403 Forbidden.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383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Admin Login Guard: Verified that Student credentials submitted at /admin/login are rejected with HTTP 403 Forbidden.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4206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Storefront Real Data: Verified / only pulls live database courses with created/updated timestamps and ₹ pricing.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5029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✓ TypeScript Compilation: 0 errors reported across all 40+ application routes (npx tsc --noEmit: PASS).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92024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ACCESS REFERENCE MATRIX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SUPER ADMIN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Portal: http://localhost:3000/admin/login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Credentials: admin@morenateach.com / admin123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83680" y="3383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OPERATIONS ADMIN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3611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Portal: http://localhost:3000/admin/login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Credentials: ops@morenateach.com / ops123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COURSE INSTRUCTOR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4434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Portal: http://localhost:3000/login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Credentials: instructor@morenateach.com / inst123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83680" y="5029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STUDENT ACCOUNT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5257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Portal: http://localhost:3000/login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Credentials: student@morenateach.com / student123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MORENA TEACH LMS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MORENA TEACH LMS - Architecture, Workflow &amp; System Documentation</dc:title>
  <dc:subject>Comprehensive LMS System Documentation &amp; Flow</dc:subject>
  <dc:creator>MORENA TEACH LMS Engineering Team</dc:creator>
  <cp:lastModifiedBy>MORENA TEACH LMS Engineering Team</cp:lastModifiedBy>
  <cp:revision>1</cp:revision>
  <dcterms:created xsi:type="dcterms:W3CDTF">2026-09-16T06:30:23Z</dcterms:created>
  <dcterms:modified xsi:type="dcterms:W3CDTF">2026-09-16T06:30:23Z</dcterms:modified>
</cp:coreProperties>
</file>